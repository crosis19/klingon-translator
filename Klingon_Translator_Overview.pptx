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8400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Klingon Translator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 yIghoj! — Learn the language!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0" y="35661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⟷ Klingon Machine Translation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Fine-Tuned NLLB-200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github.com/joshbrehm • Python 3.12 • PyTorch • Hugging Face Transformers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Klingon Translator?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bidirectional machine translation system for English and Klingon (tlhIngan Hol), built on Facebook's NLLB-200 model — a multilingual neural network originally trained on 200 languages.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NLLB-200 doesn't natively include Klingon, this project extends the model with custom tokenizer injection, transfer-learning embeddings, and fine-tuning on ~22,600 parallel sentence pairs.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0" y="1097280"/>
            <a:ext cx="3017520" cy="96012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2801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92240" y="1143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22,600+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49224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Sentences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0" y="2377440"/>
            <a:ext cx="3017520" cy="96012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5603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92240" y="2423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600M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649224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Parameters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669280" y="3657600"/>
            <a:ext cx="3017520" cy="96012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384048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0" y="3703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649224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86200" cy="1554480"/>
          </a:xfrm>
          <a:prstGeom prst="rect">
            <a:avLst/>
          </a:prstGeom>
          <a:solidFill>
            <a:srgbClr val="1E2A4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64008" cy="155448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Layer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17830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KlingonTranslator class wraps NLLB-200 with beam search, batch translation, and automatic device detection (CPU/CUDA).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00600" y="1097280"/>
            <a:ext cx="3886200" cy="1554480"/>
          </a:xfrm>
          <a:prstGeom prst="rect">
            <a:avLst/>
          </a:prstGeom>
          <a:solidFill>
            <a:srgbClr val="1E2A4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00600" y="1097280"/>
            <a:ext cx="64008" cy="155448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2801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Tokenizer Extension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074920" y="17830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SentencePiece BPE model for Klingon injected into NLLB tokenizer with transfer-learning embeddings.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2880360"/>
            <a:ext cx="3886200" cy="1554480"/>
          </a:xfrm>
          <a:prstGeom prst="rect">
            <a:avLst/>
          </a:prstGeom>
          <a:solidFill>
            <a:srgbClr val="1E2A4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57200" y="2880360"/>
            <a:ext cx="64008" cy="155448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0632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Pipeline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731520" y="35661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acquisition from Tatoeba, boQwI' dictionary, paq'batlh epic, and curated proverbs with deduplication.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00600" y="2880360"/>
            <a:ext cx="3886200" cy="1554480"/>
          </a:xfrm>
          <a:prstGeom prst="rect">
            <a:avLst/>
          </a:prstGeom>
          <a:solidFill>
            <a:srgbClr val="1E2A4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800600" y="2880360"/>
            <a:ext cx="64008" cy="155448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0632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Infrastructure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5074920" y="35661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Seq2SeqTrainer with early stopping, bidirectional examples, BLEU/chrF evaluation, and GPU-adaptive config.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356616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src/klingon_translator/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model/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translator.py    # Core interface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tokenizer.py     # SPM extension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data/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download.py      # Multi-source pipeline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training/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trainer.py       # Seq2Seq config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dataset.py       # Bilingual dataset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evaluate.py      # BLEU/chrF metrics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gpu.py           # Hardware config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colab_utils.py   # Colab helpers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utils/config.py      # Paths &amp; constants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                     # Gradio web UI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colab/klingon_training.ipynb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                      # Pytest suite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93776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37760" y="1371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inference with beam search, tokenizer injection, and embedding initialization.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240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and merges 5 parallel corpora into train/val/test JSONL splits.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2788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training/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3108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GPU-adaptive fine-tuning with early stopping, bidirectional examples, and evaluation.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3977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web interface for interactive real-time translation.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Tokenizer Extension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548640" cy="54864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Klingon text from JSONL data + raw monolingual sources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1097280"/>
            <a:ext cx="548640" cy="548640"/>
          </a:xfrm>
          <a:prstGeom prst="ellipse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0896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1460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SPM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1460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SentencePiece BPE model optimized for Klingon morphology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1097280"/>
            <a:ext cx="548640" cy="54864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916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916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new tokens into NLLB's BPE vocabulary with word boundaries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1097280"/>
            <a:ext cx="548640" cy="54864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Initialize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03720" y="2148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embeddings via base-tokenizer decomposition averaging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1097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A0A0B8"/>
                </a:solidFill>
              </a:rPr>
              <a:t>→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297680" y="1097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A0A0B8"/>
                </a:solidFill>
              </a:rPr>
              <a:t>→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92240" y="1097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A0A0B8"/>
                </a:solidFill>
              </a:rPr>
              <a:t>→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8229600" cy="164592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3246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just add_tokens()?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36118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injection into the BPE model preserves Metaspace word-boundary handling,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proper tokenization of Klingon's unique morphology (apostrophes 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symbols, special characters like Q, gh, tlh). Transfer-learning via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averaging gives new tokens meaningful initial embeddings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random initialization — dramatically improving convergence speed.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Data: 5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22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051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OPUS Tatoeba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parallel corpus in Moses format from the OPUS project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0" y="1170432"/>
            <a:ext cx="128016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0" y="117043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Tatoeba API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2057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Community-translated sentences via tatoeba.org with caching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1901952"/>
            <a:ext cx="128016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0" y="190195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solidFill>
            <a:srgbClr val="22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boQwI' Dictionary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+ XML entries from the De7vID/klingon-assistant-data repo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0" y="2633472"/>
            <a:ext cx="128016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32320" y="26334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paq'batlh Epic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8016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Klingon epic poem — verse and canto pairs (CC BY-NC-SA)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32320" y="3364992"/>
            <a:ext cx="128016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32320" y="336499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Literary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22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80160" y="3977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Proverbs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280160" y="4251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Hand-collected Klingon sayings and canonical phrases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32320" y="4096512"/>
            <a:ext cx="128016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132320" y="409651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sources are deduplicated (case-insensitive) and split 80/10/10 into train/val/test JSONL files.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029200" cy="822960"/>
          </a:xfrm>
          <a:prstGeom prst="rect">
            <a:avLst/>
          </a:prstGeom>
          <a:solidFill>
            <a:srgbClr val="1E2A4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1615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Bidirectional Training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417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sentence pair generates two examples: English→Klingon and Klingon→English for symmetric capability.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5029200" cy="822960"/>
          </a:xfrm>
          <a:prstGeom prst="rect">
            <a:avLst/>
          </a:prstGeom>
          <a:solidFill>
            <a:srgbClr val="1E2A4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7627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GPU-Adaptive Config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377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batch sizing, gradient accumulation, and mixed precision (BF16/FP16) based on hardware detection.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2971800"/>
            <a:ext cx="5029200" cy="822960"/>
          </a:xfrm>
          <a:prstGeom prst="rect">
            <a:avLst/>
          </a:prstGeom>
          <a:solidFill>
            <a:srgbClr val="1E2A4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3639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17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Stopping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337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Patience-based early stopping monitors validation loss to prevent overfitting. Default patience: 3 epochs.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57200" y="3931920"/>
            <a:ext cx="5029200" cy="822960"/>
          </a:xfrm>
          <a:prstGeom prst="rect">
            <a:avLst/>
          </a:prstGeom>
          <a:solidFill>
            <a:srgbClr val="1E2A4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09651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977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BLEU + chrF Evaluation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34440" y="4297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metrics with sample translations of canonical phrases like "Heghlu'meH QaQ jajvam."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760720" y="1051560"/>
            <a:ext cx="3017520" cy="370332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5943600" y="1188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TrainingConfig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943600" y="1645920"/>
            <a:ext cx="2651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max_epochs: configurable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learning_rate: tunable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warmup: linear schedule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weight_decay: regularized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scheduler: flexible type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early_stopping: patience=3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seed: reproducible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eval: every epoch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checkpoints: best model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logging: every 50 steps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65760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234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Interface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8580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Gradio web app for interactive translation with a clean, browser-based UI.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2468880"/>
            <a:ext cx="3474720" cy="7315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2560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app.py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A0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Opens at http://localhost:7860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direction selector, example gallery, Enter-key submission, auto model detection.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3931920" cy="365760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2344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234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API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983480" y="1828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translator directly in your Python code for programmatic access.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983480" y="2468880"/>
            <a:ext cx="3474720" cy="14630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120640" y="25603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klingon_translator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.model.translator import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KlingonTranslator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KlingonTranslator()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t.to_klingon("Hello")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t.to_english("nuqneH")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Start Guide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 Environment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931920" y="1005840"/>
            <a:ext cx="4846320" cy="5943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0" y="10515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create -n klingon python=3.12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activate klingon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56232"/>
            <a:ext cx="457200" cy="457200"/>
          </a:xfrm>
          <a:prstGeom prst="ellipse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Package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931920" y="1783080"/>
            <a:ext cx="4846320" cy="5943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0" y="18288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-e 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33472"/>
            <a:ext cx="457200" cy="45720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Download Training Data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931920" y="2560320"/>
            <a:ext cx="4846320" cy="5943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0" y="2606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klingon_translator.data.download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410712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on Google Colab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931920" y="3337560"/>
            <a:ext cx="4846320" cy="5943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0" y="33832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 colab/klingon_training.ipynb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Select GPU runtime → Run all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87952"/>
            <a:ext cx="457200" cy="457200"/>
          </a:xfrm>
          <a:prstGeom prst="ellipse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Translator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931920" y="4114800"/>
            <a:ext cx="4846320" cy="59436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0" y="41605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requires a GPU runtime (Google Colab T4/A100 recommended). Local usage is CPU-only.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&amp; Quality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731520"/>
          </a:xfrm>
          <a:prstGeom prst="rect">
            <a:avLst/>
          </a:prstGeom>
          <a:solidFill>
            <a:srgbClr val="22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" cy="7315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test_translator.py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399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for imports, config paths, class availability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931920" cy="731520"/>
          </a:xfrm>
          <a:prstGeom prst="rect">
            <a:avLst/>
          </a:prstGeom>
          <a:solidFill>
            <a:srgbClr val="22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54864" cy="7315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test_tokenizer.py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267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collection, SPM training, quality metrics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3931920" cy="731520"/>
          </a:xfrm>
          <a:prstGeom prst="rect">
            <a:avLst/>
          </a:prstGeom>
          <a:solidFill>
            <a:srgbClr val="22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54864" cy="7315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test_dataset.py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31363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BilingualDataset creation, caching, bidirectional pairs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3931920" cy="731520"/>
          </a:xfrm>
          <a:prstGeom prst="rect">
            <a:avLst/>
          </a:prstGeom>
          <a:solidFill>
            <a:srgbClr val="22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54864" cy="7315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test_evaluate.py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0050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BLEU/chrF evaluation, sample translation outputs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051560"/>
            <a:ext cx="3931920" cy="731520"/>
          </a:xfrm>
          <a:prstGeom prst="rect">
            <a:avLst/>
          </a:prstGeom>
          <a:solidFill>
            <a:srgbClr val="22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1051560"/>
            <a:ext cx="54864" cy="7315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test_gpu.py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1399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detection, hardware config, seed reproducibility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1920240"/>
            <a:ext cx="3931920" cy="731520"/>
          </a:xfrm>
          <a:prstGeom prst="rect">
            <a:avLst/>
          </a:prstGeom>
          <a:solidFill>
            <a:srgbClr val="22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1920240"/>
            <a:ext cx="54864" cy="7315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test_training.py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2267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builder, config validation, callbacks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788920"/>
            <a:ext cx="3931920" cy="731520"/>
          </a:xfrm>
          <a:prstGeom prst="rect">
            <a:avLst/>
          </a:prstGeom>
          <a:solidFill>
            <a:srgbClr val="2222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2788920"/>
            <a:ext cx="54864" cy="7315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test_colab_utils.py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31363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loading, data copy utilities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286000" y="4343400"/>
            <a:ext cx="4572000" cy="457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286000" y="4343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pytest tests/ -v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Extensions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4008" cy="6858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155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0241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Up: NLLB-200-3.3B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80160" y="13258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600M distilled model for the full 3.3B-parameter NLLB-200. Larger capacity means better handling of complex Klingon grammar and idiomatic expressions.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810512"/>
            <a:ext cx="8229600" cy="685800"/>
          </a:xfrm>
          <a:prstGeom prst="rect">
            <a:avLst/>
          </a:prstGeom>
          <a:solidFill>
            <a:srgbClr val="1E2A4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1810512"/>
            <a:ext cx="64008" cy="68580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202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18288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 Klingon Vocabulary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80160" y="21305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SPM vocab size beyond the current auto-scaled range (1K–4K). A richer subword vocabulary reduces token fertility and improves translation of compound words and suffixes.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615184"/>
            <a:ext cx="8229600" cy="68580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57200" y="2615184"/>
            <a:ext cx="64008" cy="68580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72491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26334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Back-Translation Augmentation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280160" y="293522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trained model to translate monolingual Klingon text back to English, generating synthetic parallel pairs to push well beyond 22,600 training examples.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419856"/>
            <a:ext cx="8229600" cy="685800"/>
          </a:xfrm>
          <a:prstGeom prst="rect">
            <a:avLst/>
          </a:prstGeom>
          <a:solidFill>
            <a:srgbClr val="1E2A4A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57200" y="3419856"/>
            <a:ext cx="64008" cy="6858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529584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43814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Trek Dialogue Corpus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280160" y="373989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and align Klingon dialogue from TNG/DS9 scripts to give the model a natural conversational register beyond dictionary entries and proverbs.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224528"/>
            <a:ext cx="8229600" cy="685800"/>
          </a:xfrm>
          <a:prstGeom prst="rect">
            <a:avLst/>
          </a:prstGeom>
          <a:solidFill>
            <a:srgbClr val="222244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7200" y="4224528"/>
            <a:ext cx="64008" cy="685800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334256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80160" y="424281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&amp; Bot Deployment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280160" y="45445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model in a FastAPI service or Discord/Slack bot for on-the-fly translation without running the Gradio app locally.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Qapla'!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A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Success!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Started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EAEA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-e .  •  python -m klingon_translator.data.download  •  python app.py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1160</Words>
  <Application>Microsoft Office PowerPoint</Application>
  <PresentationFormat>On-screen Show (16:9)</PresentationFormat>
  <Paragraphs>190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Klingon Translator — Project Overview</dc:title>
  <dc:subject>PptxGenJS Presentation</dc:subject>
  <dc:creator>Claude</dc:creator>
  <cp:lastModifiedBy>Joshua Brehm</cp:lastModifiedBy>
  <cp:revision>2</cp:revision>
  <dcterms:created xsi:type="dcterms:W3CDTF">2026-03-15T14:40:41Z</dcterms:created>
  <dcterms:modified xsi:type="dcterms:W3CDTF">2026-03-15T14:56:28Z</dcterms:modified>
</cp:coreProperties>
</file>