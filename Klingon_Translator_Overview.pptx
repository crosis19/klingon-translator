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92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8400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64008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Klingon Translator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 yIghoj! — Learn the language!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371600" y="35661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⟷ Klingon Machine Translation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Fine-Tuned NLLB-200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82296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github.com/crosis19/</a:t>
            </a:r>
            <a:r>
              <a:rPr lang="en-US" sz="1000" dirty="0" err="1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klingon</a:t>
            </a:r>
            <a:r>
              <a:rPr lang="en-US" sz="10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-translator • Python 3.12 • PyTorch • Hugging Face Transformers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the Klingon Translator?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bidirectional machine translation system for English and Klingon (tlhIngan Hol), built on Facebook's NLLB-200 model — a multilingual neural network originally trained on 200 languages.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NLLB-200 doesn't natively include Klingon, this project extends the model with custom tokenizer injection, transfer-learning embeddings, and fine-tuning on ~22,600 parallel sentence pairs.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0" y="1097280"/>
            <a:ext cx="3017520" cy="960120"/>
          </a:xfrm>
          <a:prstGeom prst="rect">
            <a:avLst/>
          </a:prstGeom>
          <a:solidFill>
            <a:srgbClr val="22224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28016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92240" y="1143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22,600+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49224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Sentences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0" y="2377440"/>
            <a:ext cx="3017520" cy="960120"/>
          </a:xfrm>
          <a:prstGeom prst="rect">
            <a:avLst/>
          </a:prstGeom>
          <a:solidFill>
            <a:srgbClr val="22224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56032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92240" y="2423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600M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6492240" y="2880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Parameters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0" y="3657600"/>
            <a:ext cx="3017520" cy="960120"/>
          </a:xfrm>
          <a:prstGeom prst="rect">
            <a:avLst/>
          </a:prstGeom>
          <a:solidFill>
            <a:srgbClr val="22224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3840480"/>
            <a:ext cx="5029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92240" y="37033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2"/>
          <p:cNvSpPr/>
          <p:nvPr/>
        </p:nvSpPr>
        <p:spPr>
          <a:xfrm>
            <a:off x="6492240" y="4160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Overview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86200" cy="1554480"/>
          </a:xfrm>
          <a:prstGeom prst="rect">
            <a:avLst/>
          </a:prstGeom>
          <a:solidFill>
            <a:srgbClr val="1E2A4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64008" cy="1554480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234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Layer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31520" y="17830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KlingonTranslator class wraps NLLB-200 with beam search, batch translation, and automatic device detection (CPU/CUDA).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800600" y="1097280"/>
            <a:ext cx="3886200" cy="1554480"/>
          </a:xfrm>
          <a:prstGeom prst="rect">
            <a:avLst/>
          </a:prstGeom>
          <a:solidFill>
            <a:srgbClr val="1E2A4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800600" y="1097280"/>
            <a:ext cx="64008" cy="1554480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28016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0" y="1234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Tokenizer Extension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5074920" y="17830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SentencePiece BPE model for Klingon injected into NLLB tokenizer with transfer-learning embeddings.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57200" y="2880360"/>
            <a:ext cx="3886200" cy="1554480"/>
          </a:xfrm>
          <a:prstGeom prst="rect">
            <a:avLst/>
          </a:prstGeom>
          <a:solidFill>
            <a:srgbClr val="1E2A4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57200" y="2880360"/>
            <a:ext cx="64008" cy="1554480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06324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80" y="3017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Pipeline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731520" y="35661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acquisition from Tatoeba, boQwI' dictionary, paq'batlh epic, and curated proverbs with deduplication.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800600" y="2880360"/>
            <a:ext cx="3886200" cy="1554480"/>
          </a:xfrm>
          <a:prstGeom prst="rect">
            <a:avLst/>
          </a:prstGeom>
          <a:solidFill>
            <a:srgbClr val="1E2A4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4800600" y="2880360"/>
            <a:ext cx="64008" cy="1554480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306324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69280" y="3017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Infrastructure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5074920" y="35661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Seq2SeqTrainer with early stopping, bidirectional examples, BLEU/chrF evaluation, and GPU-adaptive config.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Structure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114800" cy="3566160"/>
          </a:xfrm>
          <a:prstGeom prst="rect">
            <a:avLst/>
          </a:prstGeom>
          <a:solidFill>
            <a:srgbClr val="1A1A2E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188720"/>
            <a:ext cx="3657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src/klingon_translator/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model/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├── translator.py    # Core interface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└── tokenizer.py     # SPM extension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data/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└── download.py      # Multi-source pipeline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├── training/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├── trainer.py       # Seq2Seq config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├── dataset.py       # Bilingual dataset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├── evaluate.py      # BLEU/chrF metrics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├── gpu.py           # Hardware config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└── colab_utils.py   # Colab helpers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└── utils/config.py      # Paths &amp; constants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                      # Gradio web UI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colab/klingon_training.ipynb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                      # Pytest suite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93776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model/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937760" y="1371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inference with beam search, tokenizer injection, and embedding initialization.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19202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37760" y="2240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and merges 5 parallel corpora into train/val/test JSONL splits.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2788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training/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31089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GPU-adaptive fine-tuning with early stopping, bidirectional examples, and evaluation.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3657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3977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web interface for interactive real-time translation.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Tokenizer Extension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1097280"/>
            <a:ext cx="548640" cy="548640"/>
          </a:xfrm>
          <a:prstGeom prst="ellipse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2004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Klingon text from JSONL data + raw monolingual sources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08960" y="1097280"/>
            <a:ext cx="548640" cy="548640"/>
          </a:xfrm>
          <a:prstGeom prst="ellipse">
            <a:avLst/>
          </a:prstGeom>
          <a:solidFill>
            <a:srgbClr val="FFD7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10896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514600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SPM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51460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SentencePiece BPE model optimized for Klingon morphology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03520" y="1097280"/>
            <a:ext cx="548640" cy="548640"/>
          </a:xfrm>
          <a:prstGeom prst="ellipse">
            <a:avLst/>
          </a:prstGeom>
          <a:solidFill>
            <a:srgbClr val="00C9A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30352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09160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Inject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0916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new tokens into NLLB's BPE vocabulary with word boundaries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498080" y="1097280"/>
            <a:ext cx="548640" cy="548640"/>
          </a:xfrm>
          <a:prstGeom prst="ellipse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903720" y="1783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Initialize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90372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embeddings via base-tokenizer decomposition averaging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03120" y="10972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A0A0B8"/>
                </a:solidFill>
              </a:rPr>
              <a:t>→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297680" y="10972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A0A0B8"/>
                </a:solidFill>
              </a:rPr>
              <a:t>→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492240" y="10972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A0A0B8"/>
                </a:solidFill>
              </a:rPr>
              <a:t>→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solidFill>
            <a:srgbClr val="22224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1520" y="3246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not just add_tokens()?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31520" y="361188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injection into the BPE model preserves Metaspace word-boundary handling,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ensuring proper tokenization of Klingon's unique morphology (apostrophes as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symbols, special characters like Q, gh, tlh). Transfer-learning via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averaging gives new tokens meaningful initial embeddings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random initialization — dramatically improving convergence speed.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Data: 5 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solidFill>
            <a:srgbClr val="2222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457200" cy="457200"/>
          </a:xfrm>
          <a:prstGeom prst="ellipse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051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OPUS Tatoeba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13258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parallel corpus in Moses format from the OPUS project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0" y="1170432"/>
            <a:ext cx="1280160" cy="310896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132320" y="117043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8229600" cy="640080"/>
          </a:xfrm>
          <a:prstGeom prst="rect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Tatoeba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2057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Community-translated sentences via tatoeba.org with caching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132320" y="1901952"/>
            <a:ext cx="1280160" cy="310896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132320" y="190195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solidFill>
            <a:srgbClr val="2222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0080" y="2560320"/>
            <a:ext cx="457200" cy="457200"/>
          </a:xfrm>
          <a:prstGeom prst="ellipse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2514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boQwI' Dictionary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80160" y="27889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+ XML entries from the De7vID/klingon-assistant-data repo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132320" y="2633472"/>
            <a:ext cx="1280160" cy="310896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32320" y="263347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Supplementary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200400"/>
            <a:ext cx="8229600" cy="640080"/>
          </a:xfrm>
          <a:prstGeom prst="rect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008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80160" y="3246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paq'batlh Epic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80160" y="3520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Klingon epic poem — verse and canto pairs (CC BY-NC-SA)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132320" y="3364992"/>
            <a:ext cx="1280160" cy="310896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132320" y="336499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Literary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2222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40080" y="4023360"/>
            <a:ext cx="457200" cy="457200"/>
          </a:xfrm>
          <a:prstGeom prst="ellipse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4008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280160" y="3977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Curated Proverbs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280160" y="4251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Hand-collected Klingon sayings and canonical phrases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132320" y="4096512"/>
            <a:ext cx="1280160" cy="310896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132320" y="409651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sources are deduplicated (case-insensitive) and split 80/10/10 into train/val/test JSONL files.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5029200" cy="822960"/>
          </a:xfrm>
          <a:prstGeom prst="rect">
            <a:avLst/>
          </a:prstGeom>
          <a:solidFill>
            <a:srgbClr val="1E2A4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1615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0972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Bidirectional Training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34440" y="14173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sentence pair generates two examples: English→Klingon and Klingon→English for symmetric capability.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2011680"/>
            <a:ext cx="5029200" cy="822960"/>
          </a:xfrm>
          <a:prstGeom prst="rect">
            <a:avLst/>
          </a:prstGeom>
          <a:solidFill>
            <a:srgbClr val="1E2A4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176272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20574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GPU-Adaptive Config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234440" y="23774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batch sizing, gradient accumulation, and mixed precision (BF16/FP16) based on hardware detection.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7200" y="2971800"/>
            <a:ext cx="5029200" cy="822960"/>
          </a:xfrm>
          <a:prstGeom prst="rect">
            <a:avLst/>
          </a:prstGeom>
          <a:solidFill>
            <a:srgbClr val="1E2A4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36392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30175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Stopping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234440" y="3337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Patience-based early stopping monitors validation loss to prevent overfitting. Default patience: 3 epochs.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57200" y="3931920"/>
            <a:ext cx="5029200" cy="822960"/>
          </a:xfrm>
          <a:prstGeom prst="rect">
            <a:avLst/>
          </a:prstGeom>
          <a:solidFill>
            <a:srgbClr val="1E2A4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096512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34440" y="3977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BLEU + chrF Evaluation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234440" y="42976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metrics with sample translations of canonical phrases like "Heghlu'meH QaQ jajvam."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760720" y="1051560"/>
            <a:ext cx="3017520" cy="3703320"/>
          </a:xfrm>
          <a:prstGeom prst="rect">
            <a:avLst/>
          </a:prstGeom>
          <a:solidFill>
            <a:srgbClr val="22224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5943600" y="1188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TrainingConfig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943600" y="1645920"/>
            <a:ext cx="2651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max_epochs: configurable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learning_rate: tunable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warmup: linear schedule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weight_decay: regularized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scheduler: flexible type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early_stopping: patience=3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seed: reproducible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eval: every epoch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checkpoints: best model</a:t>
            </a:r>
            <a:endParaRPr lang="en-US" sz="11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logging: every 50 steps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3657600"/>
          </a:xfrm>
          <a:prstGeom prst="rect">
            <a:avLst/>
          </a:prstGeom>
          <a:solidFill>
            <a:srgbClr val="22224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344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234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Interface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85800" y="18288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the Gradio web app for interactive translation with a clean, browser-based UI.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5800" y="2468880"/>
            <a:ext cx="3474720" cy="7315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2560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app.py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A0A0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Opens at http://localhost:7860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5800" y="33832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direction selector, example gallery, Enter-key submission, auto model detection.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54880" y="1051560"/>
            <a:ext cx="3931920" cy="3657600"/>
          </a:xfrm>
          <a:prstGeom prst="rect">
            <a:avLst/>
          </a:prstGeom>
          <a:solidFill>
            <a:srgbClr val="22224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2344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23560" y="1234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Python API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983480" y="18288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EA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translator directly in your Python code for programmatic access.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983480" y="2468880"/>
            <a:ext cx="3474720" cy="146304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5120640" y="256032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klingon_translator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.model.translator import \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KlingonTranslator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KlingonTranslator()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t.to_klingon("Hello")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t.to_english("nuqneH")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Quick Start Guide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457200" cy="457200"/>
          </a:xfrm>
          <a:prstGeom prst="ellipse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005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Up Environment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931920" y="1005840"/>
            <a:ext cx="4846320" cy="59436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0" y="10515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create -n klingon python=3.12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conda activate klingon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856232"/>
            <a:ext cx="457200" cy="457200"/>
          </a:xfrm>
          <a:prstGeom prst="ellipse">
            <a:avLst/>
          </a:prstGeom>
          <a:solidFill>
            <a:srgbClr val="FFD7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1783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Package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931920" y="1783080"/>
            <a:ext cx="4846320" cy="59436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0" y="1828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-e 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633472"/>
            <a:ext cx="457200" cy="457200"/>
          </a:xfrm>
          <a:prstGeom prst="ellipse">
            <a:avLst/>
          </a:prstGeom>
          <a:solidFill>
            <a:srgbClr val="00C9A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728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Download Training Data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931920" y="2560320"/>
            <a:ext cx="4846320" cy="59436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0" y="26060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klingon_translator.data.download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410712"/>
            <a:ext cx="457200" cy="457200"/>
          </a:xfrm>
          <a:prstGeom prst="ellipse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57200" y="3410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97280" y="33375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on Google Colab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931920" y="3337560"/>
            <a:ext cx="4846320" cy="59436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14800" y="33832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Open colab/klingon_training.ipynb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Select GPU runtime → Run all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187952"/>
            <a:ext cx="457200" cy="457200"/>
          </a:xfrm>
          <a:prstGeom prst="ellipse">
            <a:avLst/>
          </a:prstGeom>
          <a:solidFill>
            <a:srgbClr val="FFD7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97280" y="4114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 Translator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3931920" y="4114800"/>
            <a:ext cx="4846320" cy="59436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114800" y="416052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app.py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requires a GPU runtime (Google Colab T4/A100 recommended). Local usage is CPU-only.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 &amp; Quality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731520"/>
          </a:xfrm>
          <a:prstGeom prst="rect">
            <a:avLst/>
          </a:prstGeom>
          <a:solidFill>
            <a:srgbClr val="2222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731520"/>
          </a:xfrm>
          <a:prstGeom prst="rect">
            <a:avLst/>
          </a:prstGeom>
          <a:solidFill>
            <a:srgbClr val="00C9A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097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test_translator.py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3990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for imports, config paths, class availability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931920" cy="731520"/>
          </a:xfrm>
          <a:prstGeom prst="rect">
            <a:avLst/>
          </a:prstGeom>
          <a:solidFill>
            <a:srgbClr val="2222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54864" cy="731520"/>
          </a:xfrm>
          <a:prstGeom prst="rect">
            <a:avLst/>
          </a:prstGeom>
          <a:solidFill>
            <a:srgbClr val="00C9A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1965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test_tokenizer.py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22677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Tokenizer collection, SPM training, quality metrics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3931920" cy="731520"/>
          </a:xfrm>
          <a:prstGeom prst="rect">
            <a:avLst/>
          </a:prstGeom>
          <a:solidFill>
            <a:srgbClr val="2222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54864" cy="731520"/>
          </a:xfrm>
          <a:prstGeom prst="rect">
            <a:avLst/>
          </a:prstGeom>
          <a:solidFill>
            <a:srgbClr val="00C9A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580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test_dataset.py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31363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BilingualDataset creation, caching, bidirectional pairs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3931920" cy="731520"/>
          </a:xfrm>
          <a:prstGeom prst="rect">
            <a:avLst/>
          </a:prstGeom>
          <a:solidFill>
            <a:srgbClr val="2222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54864" cy="731520"/>
          </a:xfrm>
          <a:prstGeom prst="rect">
            <a:avLst/>
          </a:prstGeom>
          <a:solidFill>
            <a:srgbClr val="00C9A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85800" y="37033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test_evaluate.py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0050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BLEU/chrF evaluation, sample translation outputs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1051560"/>
            <a:ext cx="3931920" cy="731520"/>
          </a:xfrm>
          <a:prstGeom prst="rect">
            <a:avLst/>
          </a:prstGeom>
          <a:solidFill>
            <a:srgbClr val="2222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1051560"/>
            <a:ext cx="54864" cy="731520"/>
          </a:xfrm>
          <a:prstGeom prst="rect">
            <a:avLst/>
          </a:prstGeom>
          <a:solidFill>
            <a:srgbClr val="00C9A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92040" y="1097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test_gpu.py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92040" y="13990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detection, hardware config, seed reproducibility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1920240"/>
            <a:ext cx="3931920" cy="731520"/>
          </a:xfrm>
          <a:prstGeom prst="rect">
            <a:avLst/>
          </a:prstGeom>
          <a:solidFill>
            <a:srgbClr val="2222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1920240"/>
            <a:ext cx="54864" cy="731520"/>
          </a:xfrm>
          <a:prstGeom prst="rect">
            <a:avLst/>
          </a:prstGeom>
          <a:solidFill>
            <a:srgbClr val="00C9A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92040" y="1965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test_training.py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92040" y="22677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builder, config validation, callbacks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2788920"/>
            <a:ext cx="3931920" cy="731520"/>
          </a:xfrm>
          <a:prstGeom prst="rect">
            <a:avLst/>
          </a:prstGeom>
          <a:solidFill>
            <a:srgbClr val="2222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663440" y="2788920"/>
            <a:ext cx="54864" cy="731520"/>
          </a:xfrm>
          <a:prstGeom prst="rect">
            <a:avLst/>
          </a:prstGeom>
          <a:solidFill>
            <a:srgbClr val="00C9A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9204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test_colab_utils.py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92040" y="31363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loading, data copy utilities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286000" y="4343400"/>
            <a:ext cx="45720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286000" y="4343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pytest tests/ -v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Extensions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685800"/>
          </a:xfrm>
          <a:prstGeom prst="rect">
            <a:avLst/>
          </a:prstGeom>
          <a:solidFill>
            <a:srgbClr val="22224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64008" cy="685800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15568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2412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 Up: NLLB-200-3.3B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280160" y="13258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600M distilled model for the full 3.3B-parameter NLLB-200. Larger capacity means better handling of complex Klingon grammar and idiomatic expressions.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1810512"/>
            <a:ext cx="8229600" cy="685800"/>
          </a:xfrm>
          <a:prstGeom prst="rect">
            <a:avLst/>
          </a:prstGeom>
          <a:solidFill>
            <a:srgbClr val="1E2A4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57200" y="1810512"/>
            <a:ext cx="64008" cy="685800"/>
          </a:xfrm>
          <a:prstGeom prst="rect">
            <a:avLst/>
          </a:prstGeom>
          <a:solidFill>
            <a:srgbClr val="FFD7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9202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80160" y="182880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 Klingon Vocabulary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280160" y="213055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SPM vocab size beyond the current auto-scaled range (1K–4K). A richer subword vocabulary reduces token fertility and improves translation of compound words and suffixes.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615184"/>
            <a:ext cx="8229600" cy="685800"/>
          </a:xfrm>
          <a:prstGeom prst="rect">
            <a:avLst/>
          </a:prstGeom>
          <a:solidFill>
            <a:srgbClr val="22224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457200" y="2615184"/>
            <a:ext cx="64008" cy="685800"/>
          </a:xfrm>
          <a:prstGeom prst="rect">
            <a:avLst/>
          </a:prstGeom>
          <a:solidFill>
            <a:srgbClr val="00C9A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72491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26334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Back-Translation Augmentation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280160" y="2935224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trained model to translate monolingual Klingon text back to English, generating synthetic parallel pairs to push well beyond 22,600 training examples.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57200" y="3419856"/>
            <a:ext cx="8229600" cy="685800"/>
          </a:xfrm>
          <a:prstGeom prst="rect">
            <a:avLst/>
          </a:prstGeom>
          <a:solidFill>
            <a:srgbClr val="1E2A4A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457200" y="3419856"/>
            <a:ext cx="64008" cy="685800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529584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80160" y="343814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 Trek Dialogue Corpus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280160" y="373989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 and align Klingon dialogue from TNG/DS9 scripts to give the model a natural conversational register beyond dictionary entries and proverbs.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7200" y="4224528"/>
            <a:ext cx="8229600" cy="685800"/>
          </a:xfrm>
          <a:prstGeom prst="rect">
            <a:avLst/>
          </a:prstGeom>
          <a:solidFill>
            <a:srgbClr val="222244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457200" y="4224528"/>
            <a:ext cx="64008" cy="685800"/>
          </a:xfrm>
          <a:prstGeom prst="rect">
            <a:avLst/>
          </a:prstGeom>
          <a:solidFill>
            <a:srgbClr val="FFD70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4334256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280160" y="4242816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&amp; Bot Deployment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1280160" y="454456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the model in a FastAPI service or Discord/Slack bot for on-the-fly translation without running the Gradio app locally.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64008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945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Qapla'!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Success!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4023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 Started</a:t>
            </a:r>
            <a:endParaRPr lang="en-US" sz="1600" dirty="0"/>
          </a:p>
          <a:p>
            <a:pPr marL="0" indent="0" algn="ctr">
              <a:buNone/>
            </a:pP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EAEA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-e .  •  python -m klingon_translator.data.download  •  python app.py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1162</Words>
  <Application>Microsoft Office PowerPoint</Application>
  <PresentationFormat>On-screen Show (16:9)</PresentationFormat>
  <Paragraphs>190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Klingon Translator — Project Overview</dc:title>
  <dc:subject>PptxGenJS Presentation</dc:subject>
  <dc:creator>Claude</dc:creator>
  <cp:lastModifiedBy>Joshua Brehm</cp:lastModifiedBy>
  <cp:revision>3</cp:revision>
  <dcterms:created xsi:type="dcterms:W3CDTF">2026-03-15T14:40:41Z</dcterms:created>
  <dcterms:modified xsi:type="dcterms:W3CDTF">2026-03-15T15:02:05Z</dcterms:modified>
</cp:coreProperties>
</file>